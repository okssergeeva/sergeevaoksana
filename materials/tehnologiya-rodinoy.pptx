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78" r:id="rId9"/>
    <p:sldId id="262" r:id="rId10"/>
    <p:sldId id="265" r:id="rId11"/>
    <p:sldId id="268" r:id="rId12"/>
    <p:sldId id="267" r:id="rId13"/>
    <p:sldId id="266" r:id="rId14"/>
    <p:sldId id="271" r:id="rId15"/>
    <p:sldId id="270" r:id="rId16"/>
    <p:sldId id="269" r:id="rId17"/>
    <p:sldId id="272" r:id="rId18"/>
    <p:sldId id="273" r:id="rId19"/>
    <p:sldId id="274" r:id="rId20"/>
    <p:sldId id="275" r:id="rId21"/>
    <p:sldId id="276" r:id="rId22"/>
    <p:sldId id="263" r:id="rId23"/>
    <p:sldId id="277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88" autoAdjust="0"/>
    <p:restoredTop sz="94660"/>
  </p:normalViewPr>
  <p:slideViewPr>
    <p:cSldViewPr>
      <p:cViewPr varScale="1">
        <p:scale>
          <a:sx n="66" d="100"/>
          <a:sy n="66" d="100"/>
        </p:scale>
        <p:origin x="-1464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&#1086;&#1082;&#1089;&#1072;&#1085;&#1072;\Desktop\&#1073;&#1091;&#1089;&#1099;\&#1043;&#1088;&#1072;&#1092;&#1080;&#108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view3D>
      <c:rAngAx val="1"/>
    </c:view3D>
    <c:plotArea>
      <c:layout/>
      <c:bar3DChart>
        <c:barDir val="col"/>
        <c:grouping val="clustered"/>
        <c:ser>
          <c:idx val="0"/>
          <c:order val="0"/>
          <c:tx>
            <c:strRef>
              <c:f>Лист1!$A$23</c:f>
              <c:strCache>
                <c:ptCount val="1"/>
                <c:pt idx="0">
                  <c:v>Высокий</c:v>
                </c:pt>
              </c:strCache>
            </c:strRef>
          </c:tx>
          <c:dLbls>
            <c:showVal val="1"/>
          </c:dLbls>
          <c:cat>
            <c:strRef>
              <c:f>Лист1!$B$22:$C$22</c:f>
              <c:strCache>
                <c:ptCount val="2"/>
                <c:pt idx="0">
                  <c:v>Январь</c:v>
                </c:pt>
                <c:pt idx="1">
                  <c:v>Март</c:v>
                </c:pt>
              </c:strCache>
            </c:strRef>
          </c:cat>
          <c:val>
            <c:numRef>
              <c:f>Лист1!$B$23:$C$23</c:f>
              <c:numCache>
                <c:formatCode>0%</c:formatCode>
                <c:ptCount val="2"/>
                <c:pt idx="0">
                  <c:v>0.12000000000000002</c:v>
                </c:pt>
                <c:pt idx="1">
                  <c:v>0.19000000000000042</c:v>
                </c:pt>
              </c:numCache>
            </c:numRef>
          </c:val>
        </c:ser>
        <c:ser>
          <c:idx val="1"/>
          <c:order val="1"/>
          <c:tx>
            <c:strRef>
              <c:f>Лист1!$A$24</c:f>
              <c:strCache>
                <c:ptCount val="1"/>
                <c:pt idx="0">
                  <c:v>Средний</c:v>
                </c:pt>
              </c:strCache>
            </c:strRef>
          </c:tx>
          <c:dLbls>
            <c:showVal val="1"/>
          </c:dLbls>
          <c:cat>
            <c:strRef>
              <c:f>Лист1!$B$22:$C$22</c:f>
              <c:strCache>
                <c:ptCount val="2"/>
                <c:pt idx="0">
                  <c:v>Январь</c:v>
                </c:pt>
                <c:pt idx="1">
                  <c:v>Март</c:v>
                </c:pt>
              </c:strCache>
            </c:strRef>
          </c:cat>
          <c:val>
            <c:numRef>
              <c:f>Лист1!$B$24:$C$24</c:f>
              <c:numCache>
                <c:formatCode>0%</c:formatCode>
                <c:ptCount val="2"/>
                <c:pt idx="0">
                  <c:v>0.46</c:v>
                </c:pt>
                <c:pt idx="1">
                  <c:v>0.54</c:v>
                </c:pt>
              </c:numCache>
            </c:numRef>
          </c:val>
        </c:ser>
        <c:ser>
          <c:idx val="2"/>
          <c:order val="2"/>
          <c:tx>
            <c:strRef>
              <c:f>Лист1!$A$25</c:f>
              <c:strCache>
                <c:ptCount val="1"/>
                <c:pt idx="0">
                  <c:v>Низкий</c:v>
                </c:pt>
              </c:strCache>
            </c:strRef>
          </c:tx>
          <c:dLbls>
            <c:showVal val="1"/>
          </c:dLbls>
          <c:cat>
            <c:strRef>
              <c:f>Лист1!$B$22:$C$22</c:f>
              <c:strCache>
                <c:ptCount val="2"/>
                <c:pt idx="0">
                  <c:v>Январь</c:v>
                </c:pt>
                <c:pt idx="1">
                  <c:v>Март</c:v>
                </c:pt>
              </c:strCache>
            </c:strRef>
          </c:cat>
          <c:val>
            <c:numRef>
              <c:f>Лист1!$B$25:$C$25</c:f>
              <c:numCache>
                <c:formatCode>0%</c:formatCode>
                <c:ptCount val="2"/>
                <c:pt idx="0">
                  <c:v>0.42000000000000032</c:v>
                </c:pt>
                <c:pt idx="1">
                  <c:v>0.27</c:v>
                </c:pt>
              </c:numCache>
            </c:numRef>
          </c:val>
        </c:ser>
        <c:dLbls>
          <c:showVal val="1"/>
        </c:dLbls>
        <c:shape val="box"/>
        <c:axId val="38502784"/>
        <c:axId val="38504320"/>
        <c:axId val="0"/>
      </c:bar3DChart>
      <c:catAx>
        <c:axId val="38502784"/>
        <c:scaling>
          <c:orientation val="minMax"/>
        </c:scaling>
        <c:axPos val="b"/>
        <c:tickLblPos val="nextTo"/>
        <c:crossAx val="38504320"/>
        <c:crosses val="autoZero"/>
        <c:auto val="1"/>
        <c:lblAlgn val="ctr"/>
        <c:lblOffset val="100"/>
      </c:catAx>
      <c:valAx>
        <c:axId val="38504320"/>
        <c:scaling>
          <c:orientation val="minMax"/>
        </c:scaling>
        <c:axPos val="l"/>
        <c:majorGridlines/>
        <c:numFmt formatCode="0%" sourceLinked="1"/>
        <c:tickLblPos val="nextTo"/>
        <c:crossAx val="38502784"/>
        <c:crosses val="autoZero"/>
        <c:crossBetween val="between"/>
      </c:valAx>
    </c:plotArea>
    <c:legend>
      <c:legendPos val="r"/>
    </c:legend>
    <c:plotVisOnly val="1"/>
    <c:dispBlanksAs val="gap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9A8FB-627E-4C50-9272-F4F4CE882096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26FC6-8EAE-4185-AC9B-819676C5A73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26FC6-8EAE-4185-AC9B-819676C5A734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26FC6-8EAE-4185-AC9B-819676C5A734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26FC6-8EAE-4185-AC9B-819676C5A734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26FC6-8EAE-4185-AC9B-819676C5A734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26FC6-8EAE-4185-AC9B-819676C5A734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0E1C7-7B6F-4198-882C-18464A10A27D}" type="datetimeFigureOut">
              <a:rPr lang="ru-RU" smtClean="0"/>
              <a:pPr/>
              <a:t>19.04.2023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64482-6EB1-4485-B6D1-22E21E8CB8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lum bright="-8000" contrast="14000"/>
          </a:blip>
          <a:srcRect/>
          <a:stretch>
            <a:fillRect/>
          </a:stretch>
        </p:blipFill>
        <p:spPr bwMode="auto">
          <a:xfrm>
            <a:off x="0" y="0"/>
            <a:ext cx="9162058" cy="814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Скругленный прямоугольник 9"/>
          <p:cNvSpPr/>
          <p:nvPr/>
        </p:nvSpPr>
        <p:spPr>
          <a:xfrm>
            <a:off x="714348" y="642918"/>
            <a:ext cx="7858180" cy="25717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85786" y="1000108"/>
            <a:ext cx="80724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7030A0"/>
                </a:solidFill>
                <a:latin typeface="Book Antiqua" pitchFamily="18" charset="0"/>
                <a:cs typeface="Times New Roman" pitchFamily="18" charset="0"/>
              </a:rPr>
              <a:t>Использование технологии М.И. Родиной в работе с детьми раннего возраста.</a:t>
            </a:r>
            <a:endParaRPr lang="ru-RU" sz="4000" b="1" dirty="0">
              <a:solidFill>
                <a:srgbClr val="7030A0"/>
              </a:solidFill>
              <a:latin typeface="Book Antiqua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с одним вырезанным углом 10"/>
          <p:cNvSpPr/>
          <p:nvPr/>
        </p:nvSpPr>
        <p:spPr>
          <a:xfrm>
            <a:off x="4357686" y="4714884"/>
            <a:ext cx="4643470" cy="1357322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429124" y="4786322"/>
            <a:ext cx="4685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7030A0"/>
                </a:solidFill>
                <a:latin typeface="Arial Black" pitchFamily="34" charset="0"/>
              </a:rPr>
              <a:t>Сергеева Оксана Александровна</a:t>
            </a:r>
          </a:p>
          <a:p>
            <a:r>
              <a:rPr lang="ru-RU" b="1" dirty="0" smtClean="0">
                <a:solidFill>
                  <a:srgbClr val="7030A0"/>
                </a:solidFill>
                <a:latin typeface="Arial Black" pitchFamily="34" charset="0"/>
              </a:rPr>
              <a:t>Воспитатель</a:t>
            </a:r>
          </a:p>
          <a:p>
            <a:r>
              <a:rPr lang="ru-RU" b="1" dirty="0" smtClean="0">
                <a:solidFill>
                  <a:srgbClr val="7030A0"/>
                </a:solidFill>
                <a:latin typeface="Arial Black" pitchFamily="34" charset="0"/>
              </a:rPr>
              <a:t>«Детский сад №9 комбинированного вида»</a:t>
            </a:r>
            <a:endParaRPr lang="ru-RU" b="1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429000"/>
            <a:ext cx="2214577" cy="3139294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500034" y="642918"/>
            <a:ext cx="8286808" cy="314327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42910" y="785794"/>
            <a:ext cx="80010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Бусы </a:t>
            </a: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— это не только элементы украшения, соответствующие тому или иному костюму, бусы — это и полет вашей фантазии, а для ребенка — это еще и доступный и эстетически притягательный материал. Данную методику разработала Майя Ивановна Родина, известный педагог, музыкант, почетный работник общего образования РФ. Автор системы работы с детьми по театрализованной деятельности и руководитель театральной студии «</a:t>
            </a:r>
            <a:r>
              <a:rPr lang="ru-RU" sz="2000" b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Кукляндия</a:t>
            </a: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» (Санкт-Петербург). Разработала систему игр и творческих упражнений с бусами для дошкольников. </a:t>
            </a:r>
            <a:endParaRPr lang="ru-RU" sz="20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000504"/>
            <a:ext cx="3214710" cy="2411032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9256" y="3929066"/>
            <a:ext cx="2052009" cy="2739108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785786" y="214290"/>
            <a:ext cx="7858180" cy="785818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785786" y="1071546"/>
            <a:ext cx="7715304" cy="64294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85786" y="3000372"/>
            <a:ext cx="7715304" cy="42862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85787" y="4214818"/>
            <a:ext cx="7786742" cy="5000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85786" y="1785926"/>
            <a:ext cx="7643866" cy="55654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85786" y="2428868"/>
            <a:ext cx="7715304" cy="4286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85786" y="3500438"/>
            <a:ext cx="7748614" cy="64294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783771" y="4857760"/>
            <a:ext cx="7784519" cy="857256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00300" y="5715017"/>
            <a:ext cx="7731833" cy="92869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785786" y="214290"/>
            <a:ext cx="7734100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Применение данной технологии  «</a:t>
            </a:r>
            <a:r>
              <a:rPr lang="ru-RU" sz="2200" b="1" i="1" u="sng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Бусоград</a:t>
            </a:r>
            <a:r>
              <a:rPr lang="ru-RU" sz="2200" b="1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 способствует:</a:t>
            </a:r>
          </a:p>
          <a:p>
            <a:endParaRPr lang="ru-RU" sz="2000" b="1" i="1" u="sng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Обогащение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 активизирование словаря ребенка;</a:t>
            </a: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Создане</a:t>
            </a: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релаксирующего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эффекта; </a:t>
            </a:r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Развитие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речевого дыхания</a:t>
            </a: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Развитие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мелкой моторики</a:t>
            </a: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Формирование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навыков пространственной ориентировки</a:t>
            </a: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Совершенствование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сенсорных эталонов</a:t>
            </a: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ru-RU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Развитие психических процессов (мышление, внимание, память</a:t>
            </a:r>
            <a:r>
              <a:rPr lang="ru-RU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); Развитие </a:t>
            </a:r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творчества (воображение, фантазия и др</a:t>
            </a:r>
            <a:r>
              <a:rPr lang="ru-RU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.);</a:t>
            </a: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Развитие </a:t>
            </a:r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индивидуальных качеств ребенка (умение работать в коллективе, быть самостоятельными в выборе решений, быть сдержанными, доброжелательными и т. д.)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214282" y="285728"/>
            <a:ext cx="8572560" cy="10715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14282" y="1500174"/>
            <a:ext cx="8572560" cy="114300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14282" y="2714620"/>
            <a:ext cx="8786874" cy="12144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85720" y="214290"/>
            <a:ext cx="88582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Помимо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этого ребенок на практике постигает такие понятия, как цвет, форма, размер. Очень важно, что благодаря всему этому, развиваются и речевые способности ребенка. </a:t>
            </a:r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 методической разработке М. И. Родиной, указывается, что, благодаря применению в работе с детьми техники </a:t>
            </a:r>
            <a:r>
              <a:rPr lang="ru-RU" sz="2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Бусоград</a:t>
            </a:r>
            <a:r>
              <a:rPr lang="ru-RU" sz="2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дети </a:t>
            </a:r>
            <a:r>
              <a:rPr lang="ru-RU" sz="20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«быстрее начинают чисто и выразительно говорить»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Использование </a:t>
            </a:r>
            <a:r>
              <a:rPr lang="ru-RU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методики по возрасту неограниченно, так как выкладывать различные образы, придумывать о них сказочные истории будет интересно всем и старшим и </a:t>
            </a:r>
            <a:r>
              <a:rPr lang="ru-RU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младшим.</a:t>
            </a:r>
            <a:endParaRPr lang="ru-RU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lum bright="7000"/>
          </a:blip>
          <a:srcRect/>
          <a:stretch>
            <a:fillRect/>
          </a:stretch>
        </p:blipFill>
        <p:spPr bwMode="auto">
          <a:xfrm>
            <a:off x="500034" y="4214818"/>
            <a:ext cx="1967327" cy="2428892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lum bright="-2000"/>
          </a:blip>
          <a:srcRect/>
          <a:stretch>
            <a:fillRect/>
          </a:stretch>
        </p:blipFill>
        <p:spPr bwMode="auto">
          <a:xfrm>
            <a:off x="3357554" y="4143380"/>
            <a:ext cx="1851011" cy="2462506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lum bright="-5000"/>
          </a:blip>
          <a:srcRect/>
          <a:stretch>
            <a:fillRect/>
          </a:stretch>
        </p:blipFill>
        <p:spPr bwMode="auto">
          <a:xfrm>
            <a:off x="6143636" y="4143380"/>
            <a:ext cx="1712893" cy="2451681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214282" y="1142984"/>
            <a:ext cx="8643998" cy="17859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14282" y="1285860"/>
            <a:ext cx="87154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О дидактической пользе бус можно написать много. Важно хотя бы раз дать детям попробовать поиграть с бусами и мы увидим, как наши неутомимые малыши замолкают, сосредоточенно выкладывая из бус свой «шедевр» , как они ловко перебирают пальцами бусы разных размеров и какое удовольствие от этого получают! </a:t>
            </a:r>
            <a:endParaRPr lang="ru-RU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lum bright="-12000"/>
          </a:blip>
          <a:srcRect/>
          <a:stretch>
            <a:fillRect/>
          </a:stretch>
        </p:blipFill>
        <p:spPr bwMode="auto">
          <a:xfrm>
            <a:off x="2643174" y="3158132"/>
            <a:ext cx="3929090" cy="3519810"/>
          </a:xfrm>
          <a:prstGeom prst="rect">
            <a:avLst/>
          </a:prstGeom>
          <a:ln w="190500" cap="sq">
            <a:solidFill>
              <a:srgbClr val="7030A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оксана\Desktop\бусы\фоны\фон бусы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275536" cy="9429792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lum bright="3000"/>
          </a:blip>
          <a:srcRect/>
          <a:stretch>
            <a:fillRect/>
          </a:stretch>
        </p:blipFill>
        <p:spPr bwMode="auto">
          <a:xfrm>
            <a:off x="357158" y="1785926"/>
            <a:ext cx="4071966" cy="4071966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lum bright="-4000"/>
          </a:blip>
          <a:srcRect/>
          <a:stretch>
            <a:fillRect/>
          </a:stretch>
        </p:blipFill>
        <p:spPr bwMode="auto">
          <a:xfrm>
            <a:off x="4857752" y="1500174"/>
            <a:ext cx="3500462" cy="4507131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оксана\Desktop\бусы\фоны\фон бусы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31536" y="0"/>
            <a:ext cx="9275536" cy="9429792"/>
          </a:xfrm>
          <a:prstGeom prst="rect">
            <a:avLst/>
          </a:prstGeom>
          <a:noFill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lum bright="-9000"/>
          </a:blip>
          <a:srcRect/>
          <a:stretch>
            <a:fillRect/>
          </a:stretch>
        </p:blipFill>
        <p:spPr bwMode="auto">
          <a:xfrm>
            <a:off x="357158" y="2428867"/>
            <a:ext cx="4624390" cy="3468293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lum bright="-1000"/>
          </a:blip>
          <a:srcRect/>
          <a:stretch>
            <a:fillRect/>
          </a:stretch>
        </p:blipFill>
        <p:spPr bwMode="auto">
          <a:xfrm>
            <a:off x="5214941" y="2428868"/>
            <a:ext cx="3781749" cy="3500462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оксана\Desktop\бусы\фоны\фон бусы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31536" y="0"/>
            <a:ext cx="9275536" cy="9429792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791" y="2571745"/>
            <a:ext cx="4588016" cy="2928957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504" y="2428868"/>
            <a:ext cx="3791890" cy="3419472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6" name="Скругленный прямоугольник 5"/>
          <p:cNvSpPr/>
          <p:nvPr/>
        </p:nvSpPr>
        <p:spPr>
          <a:xfrm>
            <a:off x="2000232" y="714356"/>
            <a:ext cx="5857916" cy="10001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285984" y="857232"/>
            <a:ext cx="5651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7030A0"/>
                </a:solidFill>
                <a:cs typeface="Aharoni" pitchFamily="2" charset="-79"/>
              </a:rPr>
              <a:t>Консультации с родителями</a:t>
            </a:r>
            <a:endParaRPr lang="ru-RU" sz="3200" b="1" dirty="0">
              <a:solidFill>
                <a:srgbClr val="7030A0"/>
              </a:solidFill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оксана\Desktop\бусы\фоны\фон бусы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275536" cy="9429792"/>
          </a:xfrm>
          <a:prstGeom prst="rect">
            <a:avLst/>
          </a:prstGeom>
          <a:noFill/>
        </p:spPr>
      </p:pic>
      <p:sp>
        <p:nvSpPr>
          <p:cNvPr id="5" name="Скругленный прямоугольник 4"/>
          <p:cNvSpPr/>
          <p:nvPr/>
        </p:nvSpPr>
        <p:spPr>
          <a:xfrm>
            <a:off x="714348" y="571480"/>
            <a:ext cx="7500990" cy="914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714348" y="642918"/>
            <a:ext cx="9503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7030A0"/>
                </a:solidFill>
              </a:rPr>
              <a:t>Социально-коммуникативное развитие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6" name="Прямоугольник с одним вырезанным скругленным углом 5"/>
          <p:cNvSpPr/>
          <p:nvPr/>
        </p:nvSpPr>
        <p:spPr>
          <a:xfrm>
            <a:off x="571472" y="1643050"/>
            <a:ext cx="8001056" cy="1428760"/>
          </a:xfrm>
          <a:prstGeom prst="snip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71472" y="1643050"/>
            <a:ext cx="82868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>Цель: повысить творческую активность детей, пробудить фантазию, поднять настроение, развивать собранность, внимательность, умение управлять своими эмоциями и действиями, развивать навыки коллективной и слаженной деятельности. </a:t>
            </a:r>
          </a:p>
          <a:p>
            <a:endParaRPr lang="ru-RU" b="1" dirty="0" smtClean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4">
            <a:lum bright="1000" contrast="10000"/>
          </a:blip>
          <a:srcRect/>
          <a:stretch>
            <a:fillRect/>
          </a:stretch>
        </p:blipFill>
        <p:spPr bwMode="auto">
          <a:xfrm>
            <a:off x="285720" y="3286124"/>
            <a:ext cx="4067046" cy="3357562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lum bright="-16000"/>
          </a:blip>
          <a:srcRect/>
          <a:stretch>
            <a:fillRect/>
          </a:stretch>
        </p:blipFill>
        <p:spPr bwMode="auto">
          <a:xfrm>
            <a:off x="4786314" y="3214686"/>
            <a:ext cx="3908652" cy="342900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428596" y="6015038"/>
            <a:ext cx="3643338" cy="628672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28596" y="6072206"/>
            <a:ext cx="3929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«Расскажи о настроении»</a:t>
            </a:r>
            <a:endParaRPr lang="ru-RU" sz="2400" b="1" dirty="0">
              <a:solidFill>
                <a:srgbClr val="7030A0"/>
              </a:solidFill>
            </a:endParaRPr>
          </a:p>
        </p:txBody>
      </p:sp>
      <p:sp>
        <p:nvSpPr>
          <p:cNvPr id="12" name="Прямоугольник с двумя вырезанными противолежащими углами 11"/>
          <p:cNvSpPr/>
          <p:nvPr/>
        </p:nvSpPr>
        <p:spPr>
          <a:xfrm>
            <a:off x="5072066" y="5943600"/>
            <a:ext cx="3143272" cy="700110"/>
          </a:xfrm>
          <a:prstGeom prst="snip2Diag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5214942" y="6072206"/>
            <a:ext cx="3143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«Бусинки идут к…»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lum bright="-9000"/>
          </a:blip>
          <a:srcRect/>
          <a:stretch>
            <a:fillRect/>
          </a:stretch>
        </p:blipFill>
        <p:spPr bwMode="auto">
          <a:xfrm>
            <a:off x="285720" y="1500174"/>
            <a:ext cx="5026189" cy="4129094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с двумя вырезанными противолежащими углами 4"/>
          <p:cNvSpPr/>
          <p:nvPr/>
        </p:nvSpPr>
        <p:spPr>
          <a:xfrm>
            <a:off x="5500694" y="3429000"/>
            <a:ext cx="3429024" cy="914400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643570" y="3429000"/>
            <a:ext cx="3500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«Совместное рисование»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2143108" y="0"/>
            <a:ext cx="5143536" cy="914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285984" y="214290"/>
            <a:ext cx="4817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7030A0"/>
                </a:solidFill>
              </a:rPr>
              <a:t>Познавательное развитие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6" name="Прямоугольник с одним вырезанным углом 5"/>
          <p:cNvSpPr/>
          <p:nvPr/>
        </p:nvSpPr>
        <p:spPr>
          <a:xfrm>
            <a:off x="214282" y="1000108"/>
            <a:ext cx="8715436" cy="2000264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57158" y="1071547"/>
            <a:ext cx="85725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solidFill>
                  <a:srgbClr val="7030A0"/>
                </a:solidFill>
              </a:rPr>
              <a:t>способствует: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развитию интересов детей, любознательности и познавательной мотивации;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формированию познавательных действий, становлению сознания;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развитию воображения и творческой активности;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формированию первичных представлений о себе, других людях, объектах окружающего мира, о свойствах и отношениях объектов окружающего мира (форме, цвете, размере, материале, звучании, ритме, темпе, количестве, числе, части и целом, пространстве и времени, движении и покое, причинах и следствиях и др.). 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>
            <a:lum bright="-9000"/>
          </a:blip>
          <a:srcRect/>
          <a:stretch>
            <a:fillRect/>
          </a:stretch>
        </p:blipFill>
        <p:spPr bwMode="auto">
          <a:xfrm>
            <a:off x="428596" y="3143248"/>
            <a:ext cx="3286148" cy="3041725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5">
            <a:lum bright="-10000"/>
          </a:blip>
          <a:srcRect/>
          <a:stretch>
            <a:fillRect/>
          </a:stretch>
        </p:blipFill>
        <p:spPr bwMode="auto">
          <a:xfrm>
            <a:off x="4929190" y="3071810"/>
            <a:ext cx="3343129" cy="307751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с двумя вырезанными противолежащими углами 9"/>
          <p:cNvSpPr/>
          <p:nvPr/>
        </p:nvSpPr>
        <p:spPr>
          <a:xfrm>
            <a:off x="2643174" y="6143644"/>
            <a:ext cx="3843358" cy="714356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643174" y="6143644"/>
            <a:ext cx="4500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7030A0"/>
                </a:solidFill>
              </a:rPr>
              <a:t>«Что изменилось?»</a:t>
            </a:r>
            <a:endParaRPr lang="ru-RU" sz="2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lum bright="-7000" contrast="12000"/>
          </a:blip>
          <a:srcRect/>
          <a:stretch>
            <a:fillRect/>
          </a:stretch>
        </p:blipFill>
        <p:spPr bwMode="auto">
          <a:xfrm>
            <a:off x="285720" y="1214422"/>
            <a:ext cx="4157435" cy="4084498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>
            <a:lum bright="-9000" contrast="11000"/>
          </a:blip>
          <a:srcRect/>
          <a:stretch>
            <a:fillRect/>
          </a:stretch>
        </p:blipFill>
        <p:spPr bwMode="auto">
          <a:xfrm>
            <a:off x="4786314" y="1214422"/>
            <a:ext cx="3634945" cy="4143404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2714612" y="5572140"/>
            <a:ext cx="2714644" cy="914400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928926" y="5786454"/>
            <a:ext cx="2301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«Собери бусы»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571472" y="3643314"/>
            <a:ext cx="3214710" cy="1200152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57224" y="3857628"/>
            <a:ext cx="3286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«Какая дорожка длиннее?» (короче)</a:t>
            </a:r>
            <a:endParaRPr lang="ru-RU" sz="2400" b="1" dirty="0">
              <a:solidFill>
                <a:srgbClr val="7030A0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lum bright="-7000"/>
          </a:blip>
          <a:srcRect/>
          <a:stretch>
            <a:fillRect/>
          </a:stretch>
        </p:blipFill>
        <p:spPr bwMode="auto">
          <a:xfrm>
            <a:off x="4643438" y="3500438"/>
            <a:ext cx="4267200" cy="3057525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2357422" y="6000768"/>
            <a:ext cx="2286016" cy="571504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285984" y="6072206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«Какой цвет?»</a:t>
            </a:r>
            <a:endParaRPr lang="ru-RU" sz="2400" b="1" dirty="0">
              <a:solidFill>
                <a:srgbClr val="7030A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8892" y="785794"/>
            <a:ext cx="3846341" cy="2771776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6248" y="214290"/>
            <a:ext cx="3467100" cy="320040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8" name="Прямоугольник с двумя вырезанными противолежащими углами 7"/>
          <p:cNvSpPr/>
          <p:nvPr/>
        </p:nvSpPr>
        <p:spPr>
          <a:xfrm>
            <a:off x="7000860" y="2500306"/>
            <a:ext cx="2143140" cy="785818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7000860" y="2500306"/>
            <a:ext cx="2143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7030A0"/>
                </a:solidFill>
              </a:rPr>
              <a:t>«Сравни улиток»</a:t>
            </a:r>
          </a:p>
          <a:p>
            <a:r>
              <a:rPr lang="ru-RU" sz="2000" b="1" dirty="0" smtClean="0">
                <a:solidFill>
                  <a:srgbClr val="7030A0"/>
                </a:solidFill>
              </a:rPr>
              <a:t>(одна, много)</a:t>
            </a:r>
            <a:endParaRPr lang="ru-RU" sz="2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571472" y="1357298"/>
            <a:ext cx="8001088" cy="5500702"/>
          </a:xfrm>
          <a:prstGeom prst="snip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85786" y="1571612"/>
            <a:ext cx="778674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Применение технологии «</a:t>
            </a:r>
            <a:r>
              <a:rPr lang="ru-RU" dirty="0" err="1" smtClean="0">
                <a:solidFill>
                  <a:srgbClr val="7030A0"/>
                </a:solidFill>
              </a:rPr>
              <a:t>Бусоград</a:t>
            </a:r>
            <a:r>
              <a:rPr lang="ru-RU" dirty="0" smtClean="0">
                <a:solidFill>
                  <a:srgbClr val="7030A0"/>
                </a:solidFill>
              </a:rPr>
              <a:t>» в рамках речевого развития способствует: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обогащению активного словаря;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-приобретению детьми положительного опыта коммуникации;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-развитию лексико-грамматических средств речи в рамках определенных лексических тем;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-развитию речевого творчества;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развитию звуковой и интонационной культуры речи, фонематического слуха;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знакомству с книжной культурой, детской литературой, понимание на слух текстов различных жанров детской литературы; </a:t>
            </a:r>
          </a:p>
          <a:p>
            <a:pPr>
              <a:buFontTx/>
              <a:buChar char="-"/>
            </a:pPr>
            <a:r>
              <a:rPr lang="ru-RU" dirty="0" smtClean="0">
                <a:solidFill>
                  <a:srgbClr val="7030A0"/>
                </a:solidFill>
              </a:rPr>
              <a:t>формированию звуковой аналитико-синтетической активности как предпосылки обучения грамоте; </a:t>
            </a:r>
          </a:p>
          <a:p>
            <a:pPr>
              <a:buFontTx/>
              <a:buChar char="-"/>
            </a:pPr>
            <a:r>
              <a:rPr lang="ru-RU" dirty="0" smtClean="0">
                <a:solidFill>
                  <a:srgbClr val="7030A0"/>
                </a:solidFill>
              </a:rPr>
              <a:t> автоматизации и дифференциации звуков в ходе игры;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--формированию пространственной ориентации;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развитию сенсорных представлений;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тренировке тонких дифференцированных движений пальцев и кистей рук. 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571736" y="214290"/>
            <a:ext cx="4143404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714612" y="357166"/>
            <a:ext cx="3505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7030A0"/>
                </a:solidFill>
              </a:rPr>
              <a:t>Речевое развитие</a:t>
            </a:r>
            <a:endParaRPr lang="ru-RU" sz="32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lum bright="-16000" contrast="10000"/>
          </a:blip>
          <a:srcRect/>
          <a:stretch>
            <a:fillRect/>
          </a:stretch>
        </p:blipFill>
        <p:spPr bwMode="auto">
          <a:xfrm>
            <a:off x="214282" y="285728"/>
            <a:ext cx="3546600" cy="4391028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lum bright="-2000" contrast="8000"/>
          </a:blip>
          <a:srcRect/>
          <a:stretch>
            <a:fillRect/>
          </a:stretch>
        </p:blipFill>
        <p:spPr bwMode="auto">
          <a:xfrm>
            <a:off x="4786314" y="285728"/>
            <a:ext cx="4055229" cy="355759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lum contrast="-1000"/>
          </a:blip>
          <a:srcRect/>
          <a:stretch>
            <a:fillRect/>
          </a:stretch>
        </p:blipFill>
        <p:spPr bwMode="auto">
          <a:xfrm>
            <a:off x="4143372" y="3330625"/>
            <a:ext cx="4357718" cy="3313085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с одним вырезанным скругленным углом 9"/>
          <p:cNvSpPr/>
          <p:nvPr/>
        </p:nvSpPr>
        <p:spPr>
          <a:xfrm>
            <a:off x="1000100" y="4857760"/>
            <a:ext cx="2928958" cy="1428760"/>
          </a:xfrm>
          <a:prstGeom prst="snip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71538" y="5000636"/>
            <a:ext cx="30003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«Нарисуй и расскажи»</a:t>
            </a:r>
            <a:endParaRPr lang="ru-RU" sz="3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571480"/>
            <a:ext cx="6763947" cy="4997471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с двумя вырезанными противолежащими углами 4"/>
          <p:cNvSpPr/>
          <p:nvPr/>
        </p:nvSpPr>
        <p:spPr>
          <a:xfrm>
            <a:off x="2285984" y="5715016"/>
            <a:ext cx="4786346" cy="914400"/>
          </a:xfrm>
          <a:prstGeom prst="snip2DiagRect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214546" y="5857892"/>
            <a:ext cx="5320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«Обыгрывание рисунков»</a:t>
            </a:r>
            <a:endParaRPr lang="ru-RU" sz="3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928662" y="214290"/>
            <a:ext cx="7572428" cy="7143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00034" y="214290"/>
            <a:ext cx="8001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7030A0"/>
                </a:solidFill>
              </a:rPr>
              <a:t>Художественно-эстетическое развитие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500034" y="1000108"/>
            <a:ext cx="8072494" cy="2000264"/>
          </a:xfrm>
          <a:prstGeom prst="snip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1142984"/>
            <a:ext cx="750099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solidFill>
                  <a:srgbClr val="7030A0"/>
                </a:solidFill>
              </a:rPr>
              <a:t>Применение технологии «</a:t>
            </a:r>
            <a:r>
              <a:rPr lang="ru-RU" sz="1400" b="1" dirty="0" err="1" smtClean="0">
                <a:solidFill>
                  <a:srgbClr val="7030A0"/>
                </a:solidFill>
              </a:rPr>
              <a:t>Бусоград</a:t>
            </a:r>
            <a:r>
              <a:rPr lang="ru-RU" sz="1400" b="1" dirty="0" smtClean="0">
                <a:solidFill>
                  <a:srgbClr val="7030A0"/>
                </a:solidFill>
              </a:rPr>
              <a:t>» в рамках художественно-эстетического развития способствует: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становлению эстетического отношения к окружающему миру;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формированию элементарных представлений о видах искусства;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восприятию музыки, художественной литературы, фольклора; </a:t>
            </a:r>
          </a:p>
          <a:p>
            <a:r>
              <a:rPr lang="ru-RU" sz="1400" b="1" dirty="0" smtClean="0">
                <a:solidFill>
                  <a:srgbClr val="7030A0"/>
                </a:solidFill>
              </a:rPr>
              <a:t>- стимулированию сопереживания персонажам художественных произведений; реализацию самостоятельной творческой деятельности детей (изобразительной, конструктивно-модельной, музыкальной и др.).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lum bright="-4000" contrast="8000"/>
          </a:blip>
          <a:srcRect/>
          <a:stretch>
            <a:fillRect/>
          </a:stretch>
        </p:blipFill>
        <p:spPr bwMode="auto">
          <a:xfrm>
            <a:off x="428596" y="3214686"/>
            <a:ext cx="3286148" cy="2767284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lum bright="-12000" contrast="-5000"/>
          </a:blip>
          <a:srcRect/>
          <a:stretch>
            <a:fillRect/>
          </a:stretch>
        </p:blipFill>
        <p:spPr bwMode="auto">
          <a:xfrm>
            <a:off x="4431227" y="3143249"/>
            <a:ext cx="4038388" cy="285752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12" name="Прямоугольник с двумя вырезанными противолежащими углами 11"/>
          <p:cNvSpPr/>
          <p:nvPr/>
        </p:nvSpPr>
        <p:spPr>
          <a:xfrm>
            <a:off x="642910" y="6072206"/>
            <a:ext cx="3000396" cy="500066"/>
          </a:xfrm>
          <a:prstGeom prst="snip2Diag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571472" y="6072206"/>
            <a:ext cx="285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«Нарисуй по цвету»</a:t>
            </a:r>
            <a:endParaRPr lang="ru-RU" sz="2400" b="1" dirty="0">
              <a:solidFill>
                <a:srgbClr val="7030A0"/>
              </a:solidFill>
            </a:endParaRPr>
          </a:p>
        </p:txBody>
      </p:sp>
      <p:sp>
        <p:nvSpPr>
          <p:cNvPr id="13" name="Прямоугольник с двумя вырезанными противолежащими углами 12"/>
          <p:cNvSpPr/>
          <p:nvPr/>
        </p:nvSpPr>
        <p:spPr>
          <a:xfrm>
            <a:off x="5000628" y="6000768"/>
            <a:ext cx="2571768" cy="642918"/>
          </a:xfrm>
          <a:prstGeom prst="snip2Diag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143504" y="6143644"/>
            <a:ext cx="2322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«Повтори узор»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5" name="Скругленный прямоугольник 4"/>
          <p:cNvSpPr/>
          <p:nvPr/>
        </p:nvSpPr>
        <p:spPr>
          <a:xfrm>
            <a:off x="2357422" y="428604"/>
            <a:ext cx="4214842" cy="8572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428860" y="642918"/>
            <a:ext cx="4536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7030A0"/>
                </a:solidFill>
              </a:rPr>
              <a:t>Физическое развитие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357158" y="1571612"/>
            <a:ext cx="8572560" cy="4572032"/>
          </a:xfrm>
          <a:prstGeom prst="snip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714488"/>
            <a:ext cx="81439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Применение технологии «</a:t>
            </a:r>
            <a:r>
              <a:rPr lang="ru-RU" dirty="0" err="1" smtClean="0">
                <a:solidFill>
                  <a:srgbClr val="7030A0"/>
                </a:solidFill>
              </a:rPr>
              <a:t>Бусоград</a:t>
            </a:r>
            <a:r>
              <a:rPr lang="ru-RU" dirty="0" smtClean="0">
                <a:solidFill>
                  <a:srgbClr val="7030A0"/>
                </a:solidFill>
              </a:rPr>
              <a:t>» в рамках физического развития способствует: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приобретению опыта в следующих видах деятельности детей: двигательной, в том числе связанной с выполнением упражнений, направленных на развитие таких физических качеств, как координация и гибкость;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правильному формированию опорно-двигательной системы организма, развитию равновесия, координации движения, крупной и мелкой моторики обеих рук, а также с правильным, не наносящим ущерба организму, выполнением основных движений;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развитию способности к двигательной импровизации, двигательной находчивости, способности координировать действия при совместном решении двигательных задач;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овладению подвижными играми с правилами; </a:t>
            </a:r>
          </a:p>
          <a:p>
            <a:r>
              <a:rPr lang="ru-RU" dirty="0" smtClean="0">
                <a:solidFill>
                  <a:srgbClr val="7030A0"/>
                </a:solidFill>
              </a:rPr>
              <a:t>- становлению целенаправленности и </a:t>
            </a:r>
            <a:r>
              <a:rPr lang="ru-RU" dirty="0" err="1" smtClean="0">
                <a:solidFill>
                  <a:srgbClr val="7030A0"/>
                </a:solidFill>
              </a:rPr>
              <a:t>саморегуляции</a:t>
            </a:r>
            <a:r>
              <a:rPr lang="ru-RU" dirty="0" smtClean="0">
                <a:solidFill>
                  <a:srgbClr val="7030A0"/>
                </a:solidFill>
              </a:rPr>
              <a:t> в двигательной сфере. </a:t>
            </a:r>
          </a:p>
        </p:txBody>
      </p:sp>
      <p:pic>
        <p:nvPicPr>
          <p:cNvPr id="8" name="Рисунок 7"/>
          <p:cNvPicPr/>
          <p:nvPr/>
        </p:nvPicPr>
        <p:blipFill>
          <a:blip r:embed="rId3">
            <a:extLst>
              <a:ext uri="{28A0092B-C50C-407E-A947-70E740481C1C}">
                <a14:useLocalDpi xmlns:lc="http://schemas.openxmlformats.org/drawingml/2006/lockedCanvas" xmlns:pic="http://schemas.openxmlformats.org/drawingml/2006/picture"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12942" y="4802767"/>
            <a:ext cx="4533453" cy="928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5776"/>
            <a:ext cx="9144000" cy="9225643"/>
          </a:xfrm>
          <a:prstGeom prst="rect">
            <a:avLst/>
          </a:prstGeom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lum bright="-5000" contrast="16000"/>
          </a:blip>
          <a:srcRect/>
          <a:stretch>
            <a:fillRect/>
          </a:stretch>
        </p:blipFill>
        <p:spPr bwMode="auto">
          <a:xfrm>
            <a:off x="4643438" y="3571876"/>
            <a:ext cx="4000528" cy="2991466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с двумя вырезанными противолежащими углами 8"/>
          <p:cNvSpPr/>
          <p:nvPr/>
        </p:nvSpPr>
        <p:spPr>
          <a:xfrm>
            <a:off x="928662" y="4071942"/>
            <a:ext cx="3143272" cy="714380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71538" y="4071942"/>
            <a:ext cx="3023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«Найди свой домик»</a:t>
            </a:r>
            <a:endParaRPr lang="ru-RU" sz="2400" b="1" dirty="0">
              <a:solidFill>
                <a:srgbClr val="7030A0"/>
              </a:solidFill>
            </a:endParaRPr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14480" y="5143512"/>
            <a:ext cx="2857520" cy="928694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0"/>
            <a:ext cx="3314700" cy="320040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857356" y="5214950"/>
            <a:ext cx="2643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«Найди себе пару»</a:t>
            </a:r>
            <a:endParaRPr lang="ru-RU" sz="2400" b="1" dirty="0">
              <a:solidFill>
                <a:srgbClr val="7030A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lum bright="5000" contrast="16000"/>
          </a:blip>
          <a:srcRect/>
          <a:stretch>
            <a:fillRect/>
          </a:stretch>
        </p:blipFill>
        <p:spPr bwMode="auto">
          <a:xfrm>
            <a:off x="571472" y="343984"/>
            <a:ext cx="3343276" cy="3651733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с двумя вырезанными противолежащими углами 9"/>
          <p:cNvSpPr/>
          <p:nvPr/>
        </p:nvSpPr>
        <p:spPr>
          <a:xfrm>
            <a:off x="6072166" y="3071810"/>
            <a:ext cx="3071834" cy="428628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072198" y="2000240"/>
            <a:ext cx="27860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b="1" dirty="0" smtClean="0">
              <a:solidFill>
                <a:srgbClr val="7030A0"/>
              </a:solidFill>
            </a:endParaRPr>
          </a:p>
          <a:p>
            <a:endParaRPr lang="ru-RU" sz="2400" b="1" dirty="0" smtClean="0">
              <a:solidFill>
                <a:srgbClr val="7030A0"/>
              </a:solidFill>
            </a:endParaRPr>
          </a:p>
          <a:p>
            <a:endParaRPr lang="ru-RU" sz="2400" b="1" dirty="0" smtClean="0">
              <a:solidFill>
                <a:srgbClr val="7030A0"/>
              </a:solidFill>
            </a:endParaRPr>
          </a:p>
          <a:p>
            <a:r>
              <a:rPr lang="ru-RU" sz="2400" b="1" dirty="0" smtClean="0">
                <a:solidFill>
                  <a:srgbClr val="7030A0"/>
                </a:solidFill>
              </a:rPr>
              <a:t>«С кочки на кочку»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lum bright="-3000" contrast="10000"/>
          </a:blip>
          <a:srcRect/>
          <a:stretch>
            <a:fillRect/>
          </a:stretch>
        </p:blipFill>
        <p:spPr bwMode="auto">
          <a:xfrm>
            <a:off x="1643042" y="785794"/>
            <a:ext cx="6497828" cy="4786346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</p:spPr>
      </p:pic>
      <p:sp>
        <p:nvSpPr>
          <p:cNvPr id="7" name="Прямоугольник с двумя вырезанными противолежащими углами 6"/>
          <p:cNvSpPr/>
          <p:nvPr/>
        </p:nvSpPr>
        <p:spPr>
          <a:xfrm>
            <a:off x="2571736" y="5715016"/>
            <a:ext cx="4643470" cy="914400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2571736" y="5857892"/>
            <a:ext cx="4576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</a:rPr>
              <a:t>Ходьба по «Дорожке здоровья»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5786" y="357166"/>
            <a:ext cx="7572428" cy="12715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357290" y="500042"/>
            <a:ext cx="68279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7030A0"/>
                </a:solidFill>
              </a:rPr>
              <a:t>Анализ результатов педагогической диагностики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8" name="Прямоугольник с двумя вырезанными противолежащими углами 7"/>
          <p:cNvSpPr/>
          <p:nvPr/>
        </p:nvSpPr>
        <p:spPr>
          <a:xfrm>
            <a:off x="357158" y="5286388"/>
            <a:ext cx="8572560" cy="1357322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7158" y="5357826"/>
            <a:ext cx="9070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7030A0"/>
                </a:solidFill>
              </a:rPr>
              <a:t>Использовалось диагностика Е.А. </a:t>
            </a:r>
            <a:r>
              <a:rPr lang="ru-RU" sz="2000" b="1" dirty="0" err="1" smtClean="0">
                <a:solidFill>
                  <a:srgbClr val="7030A0"/>
                </a:solidFill>
              </a:rPr>
              <a:t>Стребелевой</a:t>
            </a:r>
            <a:r>
              <a:rPr lang="ru-RU" sz="2000" b="1" dirty="0" smtClean="0">
                <a:solidFill>
                  <a:srgbClr val="7030A0"/>
                </a:solidFill>
              </a:rPr>
              <a:t> «Психолого-педагогическое  обследование детей раннего возраста» и </a:t>
            </a:r>
            <a:r>
              <a:rPr lang="ru-RU" sz="2000" b="1" dirty="0" err="1" smtClean="0">
                <a:solidFill>
                  <a:srgbClr val="7030A0"/>
                </a:solidFill>
              </a:rPr>
              <a:t>опросник</a:t>
            </a:r>
            <a:r>
              <a:rPr lang="ru-RU" sz="2000" b="1" dirty="0" smtClean="0">
                <a:solidFill>
                  <a:srgbClr val="7030A0"/>
                </a:solidFill>
              </a:rPr>
              <a:t> для родителей О.Е.Громовой  «Самые-самые первые слова».</a:t>
            </a:r>
            <a:endParaRPr lang="ru-RU" sz="2000" b="1" dirty="0">
              <a:solidFill>
                <a:srgbClr val="7030A0"/>
              </a:solidFill>
            </a:endParaRPr>
          </a:p>
        </p:txBody>
      </p:sp>
      <p:graphicFrame>
        <p:nvGraphicFramePr>
          <p:cNvPr id="9" name="Диаграмма 8"/>
          <p:cNvGraphicFramePr/>
          <p:nvPr/>
        </p:nvGraphicFramePr>
        <p:xfrm>
          <a:off x="2235517" y="1710690"/>
          <a:ext cx="5051127" cy="3718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фон бусы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500034" y="1071546"/>
            <a:ext cx="8286808" cy="13573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28595" y="642918"/>
            <a:ext cx="850112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7875" algn="l"/>
              </a:tabLst>
            </a:pP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7875" algn="l"/>
              </a:tabLst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Я надеюсь, вам понравилась данная методика «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Бусоград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»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7875" algn="l"/>
              </a:tabLst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своей доступностью, разнообразием приёмов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7875" algn="l"/>
              </a:tabLst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 вариативностью её применения.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47875" algn="l"/>
              </a:tabLst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571604" y="4572008"/>
            <a:ext cx="5500726" cy="185738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857356" y="5072074"/>
            <a:ext cx="5429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  <a:endParaRPr lang="ru-RU" sz="36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357158" y="2643182"/>
            <a:ext cx="8215370" cy="1643074"/>
          </a:xfrm>
          <a:prstGeom prst="snip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2786058"/>
            <a:ext cx="80010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>
                <a:solidFill>
                  <a:srgbClr val="7030A0"/>
                </a:solidFill>
                <a:latin typeface="Arial Narrow" pitchFamily="34" charset="0"/>
                <a:cs typeface="Aharoni" pitchFamily="2" charset="-79"/>
              </a:rPr>
              <a:t>«Дети охотно всегда чем-нибудь занимаются. Это весьма полезно, а потому не только не следует этому мешать, но нужно принимать меры к тому, чтобы всегда у них было что делать». Ян </a:t>
            </a:r>
            <a:r>
              <a:rPr lang="ru-RU" sz="2000" b="1" i="1" dirty="0" err="1" smtClean="0">
                <a:solidFill>
                  <a:srgbClr val="7030A0"/>
                </a:solidFill>
                <a:latin typeface="Arial Narrow" pitchFamily="34" charset="0"/>
                <a:cs typeface="Aharoni" pitchFamily="2" charset="-79"/>
              </a:rPr>
              <a:t>Амос</a:t>
            </a:r>
            <a:r>
              <a:rPr lang="ru-RU" sz="2000" b="1" i="1" dirty="0" smtClean="0">
                <a:solidFill>
                  <a:srgbClr val="7030A0"/>
                </a:solidFill>
                <a:latin typeface="Arial Narrow" pitchFamily="34" charset="0"/>
                <a:cs typeface="Aharoni" pitchFamily="2" charset="-79"/>
              </a:rPr>
              <a:t> Коменский.</a:t>
            </a:r>
            <a:endParaRPr lang="ru-RU" sz="2000" b="1" i="1" dirty="0">
              <a:solidFill>
                <a:srgbClr val="7030A0"/>
              </a:solidFill>
              <a:latin typeface="Arial Narrow" pitchFamily="34" charset="0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фон бусы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225643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1928794" y="714356"/>
            <a:ext cx="4357718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000232" y="785794"/>
            <a:ext cx="3857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7030A0"/>
                </a:solidFill>
              </a:rPr>
              <a:t>Список литературы:</a:t>
            </a:r>
            <a:endParaRPr lang="ru-RU" sz="3200" b="1" dirty="0">
              <a:solidFill>
                <a:srgbClr val="7030A0"/>
              </a:solidFill>
            </a:endParaRPr>
          </a:p>
        </p:txBody>
      </p:sp>
      <p:sp>
        <p:nvSpPr>
          <p:cNvPr id="8" name="Прямоугольник с двумя вырезанными противолежащими углами 7"/>
          <p:cNvSpPr/>
          <p:nvPr/>
        </p:nvSpPr>
        <p:spPr>
          <a:xfrm>
            <a:off x="714348" y="1714488"/>
            <a:ext cx="8072494" cy="5786478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7030A0"/>
                </a:solidFill>
              </a:rPr>
              <a:t>3</a:t>
            </a:r>
            <a:r>
              <a:rPr lang="ru-RU" b="1" dirty="0" smtClean="0">
                <a:solidFill>
                  <a:srgbClr val="7030A0"/>
                </a:solidFill>
              </a:rPr>
              <a:t>.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ru-RU" b="1" dirty="0" smtClean="0">
                <a:solidFill>
                  <a:srgbClr val="7030A0"/>
                </a:solidFill>
              </a:rPr>
              <a:t>Играем, развиваемся, растем. Дидактические игры для детей дошкольного возраста. - М.: Детство-Пресс, 2010.</a:t>
            </a:r>
            <a:endParaRPr lang="en-US" b="1" dirty="0" smtClean="0">
              <a:solidFill>
                <a:srgbClr val="7030A0"/>
              </a:solidFill>
            </a:endParaRPr>
          </a:p>
          <a:p>
            <a:r>
              <a:rPr lang="ru-RU" b="1" dirty="0" smtClean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000100" y="2000240"/>
            <a:ext cx="75724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7030A0"/>
                </a:solidFill>
              </a:rPr>
              <a:t>1.Психолого-педагогическая диагностика развития П86 детей раннего и дошкольного возраста : метод, пособие: с прил. альбома «</a:t>
            </a:r>
            <a:r>
              <a:rPr lang="ru-RU" b="1" dirty="0" err="1" smtClean="0">
                <a:solidFill>
                  <a:srgbClr val="7030A0"/>
                </a:solidFill>
              </a:rPr>
              <a:t>Нагляд</a:t>
            </a:r>
            <a:r>
              <a:rPr lang="ru-RU" b="1" dirty="0" smtClean="0">
                <a:solidFill>
                  <a:srgbClr val="7030A0"/>
                </a:solidFill>
              </a:rPr>
              <a:t>. материал для обследования детей»/[Е. А. </a:t>
            </a:r>
            <a:r>
              <a:rPr lang="ru-RU" b="1" dirty="0" err="1" smtClean="0">
                <a:solidFill>
                  <a:srgbClr val="7030A0"/>
                </a:solidFill>
              </a:rPr>
              <a:t>Стребелева</a:t>
            </a:r>
            <a:r>
              <a:rPr lang="ru-RU" b="1" dirty="0" smtClean="0">
                <a:solidFill>
                  <a:srgbClr val="7030A0"/>
                </a:solidFill>
              </a:rPr>
              <a:t>, Г. А. Мишина, Ю. А. </a:t>
            </a:r>
            <a:r>
              <a:rPr lang="ru-RU" b="1" dirty="0" err="1" smtClean="0">
                <a:solidFill>
                  <a:srgbClr val="7030A0"/>
                </a:solidFill>
              </a:rPr>
              <a:t>Разенкова</a:t>
            </a:r>
            <a:r>
              <a:rPr lang="ru-RU" b="1" dirty="0" smtClean="0">
                <a:solidFill>
                  <a:srgbClr val="7030A0"/>
                </a:solidFill>
              </a:rPr>
              <a:t> и др.]; под ред. Е. А. </a:t>
            </a:r>
            <a:r>
              <a:rPr lang="ru-RU" b="1" dirty="0" err="1" smtClean="0">
                <a:solidFill>
                  <a:srgbClr val="7030A0"/>
                </a:solidFill>
              </a:rPr>
              <a:t>Стребелевой</a:t>
            </a:r>
            <a:r>
              <a:rPr lang="ru-RU" b="1" dirty="0" smtClean="0">
                <a:solidFill>
                  <a:srgbClr val="7030A0"/>
                </a:solidFill>
              </a:rPr>
              <a:t>. — 2-е изд., </a:t>
            </a:r>
            <a:r>
              <a:rPr lang="ru-RU" b="1" dirty="0" err="1" smtClean="0">
                <a:solidFill>
                  <a:srgbClr val="7030A0"/>
                </a:solidFill>
              </a:rPr>
              <a:t>перераб</a:t>
            </a:r>
            <a:r>
              <a:rPr lang="ru-RU" b="1" dirty="0" smtClean="0">
                <a:solidFill>
                  <a:srgbClr val="7030A0"/>
                </a:solidFill>
              </a:rPr>
              <a:t>. и доп. — М. : Просвещение, 2004. — 164 с.</a:t>
            </a:r>
            <a:endParaRPr lang="ru-RU" b="1" dirty="0">
              <a:solidFill>
                <a:srgbClr val="7030A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000100" y="3500438"/>
            <a:ext cx="7429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7030A0"/>
                </a:solidFill>
              </a:rPr>
              <a:t>2.Путь к первым словам и фразам : пособие для родителей / О.Е. </a:t>
            </a:r>
            <a:r>
              <a:rPr lang="ru-RU" b="1" dirty="0" err="1" smtClean="0">
                <a:solidFill>
                  <a:srgbClr val="7030A0"/>
                </a:solidFill>
              </a:rPr>
              <a:t>Громова.-М</a:t>
            </a:r>
            <a:r>
              <a:rPr lang="ru-RU" b="1" dirty="0" smtClean="0">
                <a:solidFill>
                  <a:srgbClr val="7030A0"/>
                </a:solidFill>
              </a:rPr>
              <a:t>.: Просвещение, 2008.</a:t>
            </a:r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ru-RU" b="1" dirty="0" smtClean="0">
              <a:solidFill>
                <a:srgbClr val="7030A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57224" y="5857892"/>
            <a:ext cx="75724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5</a:t>
            </a:r>
            <a:r>
              <a:rPr lang="ru-RU" b="1" dirty="0" smtClean="0">
                <a:solidFill>
                  <a:srgbClr val="7030A0"/>
                </a:solidFill>
              </a:rPr>
              <a:t>. Родина М.И. «</a:t>
            </a:r>
            <a:r>
              <a:rPr lang="ru-RU" b="1" dirty="0" err="1" smtClean="0">
                <a:solidFill>
                  <a:srgbClr val="7030A0"/>
                </a:solidFill>
              </a:rPr>
              <a:t>Бусоград</a:t>
            </a:r>
            <a:r>
              <a:rPr lang="ru-RU" b="1" dirty="0" smtClean="0">
                <a:solidFill>
                  <a:srgbClr val="7030A0"/>
                </a:solidFill>
              </a:rPr>
              <a:t> или Волшебные игры Феи Бусинки». Методическое пособие по интеллектуально-творческому развитию детей 2 – 7 лет. – СПб.: РЖ «Музыкальная палитра 2014. 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000100" y="4643446"/>
            <a:ext cx="74295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r>
              <a:rPr lang="ru-RU" b="1" dirty="0" smtClean="0">
                <a:solidFill>
                  <a:srgbClr val="7030A0"/>
                </a:solidFill>
              </a:rPr>
              <a:t>4. </a:t>
            </a:r>
            <a:r>
              <a:rPr lang="ru-RU" b="1" dirty="0" err="1" smtClean="0">
                <a:solidFill>
                  <a:srgbClr val="7030A0"/>
                </a:solidFill>
              </a:rPr>
              <a:t>Нищева</a:t>
            </a:r>
            <a:r>
              <a:rPr lang="ru-RU" b="1" dirty="0" smtClean="0">
                <a:solidFill>
                  <a:srgbClr val="7030A0"/>
                </a:solidFill>
              </a:rPr>
              <a:t>, Н. В. Картотека подвижных игр, упражнений, физкультминуток, пальчиковой гимнастики / Н.В. </a:t>
            </a:r>
            <a:r>
              <a:rPr lang="ru-RU" b="1" dirty="0" err="1" smtClean="0">
                <a:solidFill>
                  <a:srgbClr val="7030A0"/>
                </a:solidFill>
              </a:rPr>
              <a:t>Нищева</a:t>
            </a:r>
            <a:r>
              <a:rPr lang="ru-RU" b="1" dirty="0" smtClean="0">
                <a:solidFill>
                  <a:srgbClr val="7030A0"/>
                </a:solidFill>
              </a:rPr>
              <a:t>. - М.: Детство-Пресс, 2011. </a:t>
            </a:r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7030A0"/>
              </a:solidFill>
            </a:endParaRPr>
          </a:p>
          <a:p>
            <a:endParaRPr lang="ru-RU" b="1" dirty="0" smtClean="0">
              <a:solidFill>
                <a:srgbClr val="7030A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714" y="4071943"/>
            <a:ext cx="893418" cy="1071570"/>
          </a:xfrm>
          <a:prstGeom prst="rect">
            <a:avLst/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919</Words>
  <Application>Microsoft Office PowerPoint</Application>
  <PresentationFormat>Экран (4:3)</PresentationFormat>
  <Paragraphs>107</Paragraphs>
  <Slides>23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</vt:vector>
  </TitlesOfParts>
  <Company>Reanimator Extreme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оксана сергеева</dc:creator>
  <cp:lastModifiedBy>оксана сергеева</cp:lastModifiedBy>
  <cp:revision>63</cp:revision>
  <dcterms:created xsi:type="dcterms:W3CDTF">2023-02-12T12:38:11Z</dcterms:created>
  <dcterms:modified xsi:type="dcterms:W3CDTF">2023-04-19T16:34:50Z</dcterms:modified>
</cp:coreProperties>
</file>